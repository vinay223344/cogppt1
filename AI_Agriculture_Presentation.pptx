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7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95D5B2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95D5B2"/>
                </a:solidFill>
                <a:latin typeface="Arial"/>
              </a:rPr>
              <a:t>Water Usage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Water Used</c:v>
                </c:pt>
              </c:strCache>
            </c:strRef>
          </c:tx>
          <c:spPr>
            <a:solidFill>
              <a:srgbClr val="5B8D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Water Used (%)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51-4A89-AAF6-0A535DD810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AI-Assisted</c:v>
                </c:pt>
              </c:strCache>
            </c:strRef>
          </c:tx>
          <c:spPr>
            <a:solidFill>
              <a:srgbClr val="52B7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Water Used (%)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51-4A89-AAF6-0A535DD810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E609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B4F7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1729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-731520"/>
            <a:ext cx="3200400" cy="3200400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2560320"/>
            <a:ext cx="2286000" cy="2286000"/>
          </a:xfrm>
          <a:prstGeom prst="ellipse">
            <a:avLst/>
          </a:prstGeom>
          <a:solidFill>
            <a:srgbClr val="95D5B2">
              <a:alpha val="30000"/>
            </a:srgbClr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63040"/>
            <a:ext cx="1645920" cy="1645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051560"/>
            <a:ext cx="54864" cy="2926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0058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 AGRICULTURE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300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FARMING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640080" y="26060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Artificial Intelligence is Revolutionising</a:t>
            </a:r>
            <a:endParaRPr lang="en-US" sz="1350" dirty="0"/>
          </a:p>
          <a:p>
            <a:pPr marL="0" indent="0">
              <a:buNone/>
            </a:pPr>
            <a:r>
              <a:rPr lang="en-US" sz="135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the World Grows Food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" y="4389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5D5B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 of Seeds, Sensors &amp; Smart Machines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5029200" cy="434340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11480" y="411480"/>
            <a:ext cx="64008" cy="4343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486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BEGINS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89611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Farmer's Struggle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Ravi — a farmer in rural Tamil Nadu.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crops have been wilting for three weeks. The soil looks fine. The sky gives no rain. He doesn't know if it's a pest, a disease, or the soil's pH that is off.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can't afford an agronomist. The nearest lab is 80 km away.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pulls out his phone… takes a photo of his dying crop… and within seconds —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tells him exactly what's wrong. And how to fix 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0" y="411480"/>
            <a:ext cx="3063240" cy="4343400"/>
          </a:xfrm>
          <a:prstGeom prst="rect">
            <a:avLst/>
          </a:prstGeom>
          <a:solidFill>
            <a:srgbClr val="1A3A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097280"/>
            <a:ext cx="1463040" cy="1463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0" y="27432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phone became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 agronomist."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760720" y="3931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happening RIGHT NOW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world.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100" dirty="0">
                <a:solidFill>
                  <a:srgbClr val="1A3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IS BIGGER THAN ONE FARM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agriculture desperately needs AI right now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011680" cy="347472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3716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20574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9.7B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to feed by 2050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3584448"/>
            <a:ext cx="173736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611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demand will rise 60%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14600" y="1234440"/>
            <a:ext cx="2011680" cy="347472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37160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60320" y="20574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2606040" y="2834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crops lost to pests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every year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651760" y="3584448"/>
            <a:ext cx="173736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606040" y="3611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$220 billion lost annually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663440" y="1234440"/>
            <a:ext cx="2011680" cy="3474720"/>
          </a:xfrm>
          <a:prstGeom prst="rect">
            <a:avLst/>
          </a:prstGeom>
          <a:solidFill>
            <a:srgbClr val="F4A26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37160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09160" y="20574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3600" dirty="0"/>
          </a:p>
        </p:txBody>
      </p:sp>
      <p:sp>
        <p:nvSpPr>
          <p:cNvPr id="19" name="Text 14"/>
          <p:cNvSpPr/>
          <p:nvPr/>
        </p:nvSpPr>
        <p:spPr>
          <a:xfrm>
            <a:off x="4754880" y="2834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fresh water used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agriculture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00600" y="3584448"/>
            <a:ext cx="173736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754880" y="3611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it wasted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812280" y="1234440"/>
            <a:ext cx="2011680" cy="3474720"/>
          </a:xfrm>
          <a:prstGeom prst="rect">
            <a:avLst/>
          </a:prstGeom>
          <a:solidFill>
            <a:srgbClr val="7B2D8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371600"/>
            <a:ext cx="640080" cy="6400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58000" y="20574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500M</a:t>
            </a:r>
            <a:endParaRPr lang="en-US" sz="3600" dirty="0"/>
          </a:p>
        </p:txBody>
      </p:sp>
      <p:sp>
        <p:nvSpPr>
          <p:cNvPr id="25" name="Text 19"/>
          <p:cNvSpPr/>
          <p:nvPr/>
        </p:nvSpPr>
        <p:spPr>
          <a:xfrm>
            <a:off x="6903720" y="2834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farmers with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expert support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949440" y="3584448"/>
            <a:ext cx="173736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903720" y="3611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agronomist. No lab.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yourself: Can traditional farming solve these problems alone?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SO, WHAT IS AI IN AGRICULTURE?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&amp; simple — no jargon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160020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444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19019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learns from millions of crop images to detect diseases faster than any human expert.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337560" y="1188720"/>
            <a:ext cx="2743200" cy="160020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4630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69080" y="1444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Sensors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474720" y="19019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devices in soil measure moisture, nutrients, and temperature — feeding data to AI systems.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355080" y="1188720"/>
            <a:ext cx="2743200" cy="160020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46304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86600" y="1444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Satellite &amp; Drones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492240" y="19019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in the sky map entire fields, spotting stress zones invisible to the naked eye.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20040" y="2926080"/>
            <a:ext cx="2743200" cy="160020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20040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31821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Analytics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57200" y="363931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analyses weather, history, and soil data to predict yields — before seeds are even planted.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337560" y="2926080"/>
            <a:ext cx="2743200" cy="160020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320040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069080" y="31821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 Irrigation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474720" y="363931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decides exactly how much water each plant needs — eliminating waste, maximising growth.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355080" y="2926080"/>
            <a:ext cx="2743200" cy="160020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3200400"/>
            <a:ext cx="502920" cy="5029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86600" y="31821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Genomics &amp; Breeding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492240" y="363931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helps develop drought-resistant and disease-resistant crop varieties faster than ever.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B4F7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5720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2011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👁 Eyes in the Sky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74320" y="2514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 &amp; Satellites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74320" y="3017520"/>
            <a:ext cx="146304" cy="14630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296265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 survey hundreds of acres in minutes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3401568"/>
            <a:ext cx="146304" cy="14630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334670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Multispectral cameras detect crop stress before visible symptoms appear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4320" y="3785616"/>
            <a:ext cx="146304" cy="14630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37307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imagery tracks field health weekly — even monthly for free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4320" y="4169664"/>
            <a:ext cx="146304" cy="14630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41148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analyses images to generate detailed health maps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74320" y="4553712"/>
            <a:ext cx="146304" cy="14630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44988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receive alerts: 'Zone B needs attention'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434840" y="36576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IMPACT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434840" y="7315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farmers are seeing on the ground: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434840" y="1188720"/>
            <a:ext cx="4297680" cy="1097280"/>
          </a:xfrm>
          <a:prstGeom prst="rect">
            <a:avLst/>
          </a:prstGeom>
          <a:solidFill>
            <a:srgbClr val="E8EDE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572000" y="13258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5852160" y="138988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pesticide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with AI targeting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434840" y="2468880"/>
            <a:ext cx="4297680" cy="1097280"/>
          </a:xfrm>
          <a:prstGeom prst="rect">
            <a:avLst/>
          </a:prstGeom>
          <a:solidFill>
            <a:srgbClr val="E8EDE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572000" y="26060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3800" dirty="0"/>
          </a:p>
        </p:txBody>
      </p:sp>
      <p:sp>
        <p:nvSpPr>
          <p:cNvPr id="23" name="Text 20"/>
          <p:cNvSpPr/>
          <p:nvPr/>
        </p:nvSpPr>
        <p:spPr>
          <a:xfrm>
            <a:off x="5852160" y="26700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savings through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irrigation maps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434840" y="3749040"/>
            <a:ext cx="4297680" cy="877824"/>
          </a:xfrm>
          <a:prstGeom prst="rect">
            <a:avLst/>
          </a:prstGeom>
          <a:solidFill>
            <a:srgbClr val="E8EDE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572000" y="38862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2×</a:t>
            </a:r>
            <a:endParaRPr lang="en-US" sz="3800" dirty="0"/>
          </a:p>
        </p:txBody>
      </p:sp>
      <p:sp>
        <p:nvSpPr>
          <p:cNvPr id="26" name="Text 23"/>
          <p:cNvSpPr/>
          <p:nvPr/>
        </p:nvSpPr>
        <p:spPr>
          <a:xfrm>
            <a:off x="5852160" y="395020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disease detection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versus manual scouting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663440" y="4518543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drone flight costs less than hiring one worker for a day.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it gives you is priceless."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SOIL &amp; IOT SENSORS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 beneath your feet is now speaking to AI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383280" y="1188720"/>
            <a:ext cx="2377440" cy="2377440"/>
          </a:xfrm>
          <a:prstGeom prst="ellipse">
            <a:avLst/>
          </a:prstGeom>
          <a:solidFill>
            <a:srgbClr val="2D6A4F"/>
          </a:solidFill>
          <a:ln w="25400">
            <a:solidFill>
              <a:srgbClr val="52B78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69164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01568" y="237744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74320" y="1280160"/>
            <a:ext cx="2834640" cy="128016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11480" y="13716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💧 Moisture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1737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watering alerts when soil is dry — not by schedule, by actual need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4320" y="2743200"/>
            <a:ext cx="2834640" cy="128016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11480" y="28346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🌡 Temperature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" y="32004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 warnings protect crops. Heat stress detected before damage occurs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0" y="1280160"/>
            <a:ext cx="2834640" cy="128016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537960" y="13716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⚗️ Nutrients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537960" y="1737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Nitrogen, Phosphorus, Potassium levels tracked in real-time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0" y="2743200"/>
            <a:ext cx="2834640" cy="128016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537960" y="28346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☀️ Light &amp; CO₂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537960" y="32004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Greenhouse AI optimises growth by adjusting light and ventilation automatically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installed today cost less than ₹500 — yet they can save a farmer lakhs in crop losses.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rgbClr val="1A3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AS THE FARMER'S DOCTOR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Disease Detection — Instant. Accurate. Affordable.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840480" cy="3566160"/>
          </a:xfrm>
          <a:prstGeom prst="rect">
            <a:avLst/>
          </a:prstGeom>
          <a:solidFill>
            <a:srgbClr val="C0392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719072"/>
            <a:ext cx="256032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700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68249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notices yellowing leaves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148840"/>
            <a:ext cx="256032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1122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1-2 weeks — unsure what it 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2578608"/>
            <a:ext cx="256032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60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25420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Travels 50-80 km to nearest expert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008376"/>
            <a:ext cx="256032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90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29718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₹500-2000 for consultation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438144"/>
            <a:ext cx="256032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419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34015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diagnosis — disease has already spread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3867912"/>
            <a:ext cx="256032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849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383133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30-60% of crop value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1143000"/>
            <a:ext cx="3840480" cy="356616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74920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AI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138928" y="1737360"/>
            <a:ext cx="237744" cy="23774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1719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17007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notices yellowing leaves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138928" y="2167128"/>
            <a:ext cx="237744" cy="23774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38928" y="21488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0" y="21305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 photo with smartphone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38928" y="2596896"/>
            <a:ext cx="237744" cy="23774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38928" y="2578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0" y="25603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 identifies disease in &lt; 3 seconds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138928" y="3026664"/>
            <a:ext cx="237744" cy="23774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38928" y="30083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0" y="29900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Remedy &amp; dosage recommended instantly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138928" y="3456432"/>
            <a:ext cx="237744" cy="23774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38928" y="34381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0" y="341985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applied same day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138928" y="3886200"/>
            <a:ext cx="237744" cy="23774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38928" y="38679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0" y="384962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loss reduced to under 5%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160520" y="2468880"/>
            <a:ext cx="822960" cy="8229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6052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like Plantix and Cropin are already used by 10+ million farmers worldwide.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 FARMING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more with less — the AI promise to every farmer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188720"/>
          <a:ext cx="3840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572000" y="1234440"/>
            <a:ext cx="1965960" cy="160020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663440" y="13716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20-30%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663440" y="203911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crop yield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 farming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66560" y="1234440"/>
            <a:ext cx="1965960" cy="160020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58000" y="13716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858000" y="203911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fertiliser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0" y="3063240"/>
            <a:ext cx="1965960" cy="160020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63440" y="3200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4663440" y="386791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prediction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766560" y="3063240"/>
            <a:ext cx="1965960" cy="160020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858000" y="3200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3×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6858000" y="386791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harvest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farming means: every drop of water, every gram of fertiliser, every spray of pesticide goes exactly where it is needed — guided by AI.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1A3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STORIES. REAL FARMERS. REAL CHANGE.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not just in labs — it is already in fields across the world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743200" cy="374904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27432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26187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9768" y="193852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Ravi Kumar, Tamil Nadu, India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77240" y="2414016"/>
            <a:ext cx="1828800" cy="219456"/>
          </a:xfrm>
          <a:prstGeom prst="rect">
            <a:avLst/>
          </a:prstGeom>
          <a:solidFill>
            <a:srgbClr val="F4A261">
              <a:alpha val="6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9768" y="242316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Plantix App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29768" y="2724912"/>
            <a:ext cx="2542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AI to identify bacterial blight in his paddy crop within seconds. Saved 80% of his 3-acre yield that would otherwise have been lost.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9768" y="4160520"/>
            <a:ext cx="2542032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9768" y="4187952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Saved ₹45,000 in one season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46120" y="1143000"/>
            <a:ext cx="2743200" cy="374904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46120" y="1143000"/>
            <a:ext cx="27432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261872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55848" y="193852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Iowa Soybean Farmer, USA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703320" y="2414016"/>
            <a:ext cx="1828800" cy="219456"/>
          </a:xfrm>
          <a:prstGeom prst="rect">
            <a:avLst/>
          </a:prstGeom>
          <a:solidFill>
            <a:srgbClr val="F4A261">
              <a:alpha val="6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55848" y="242316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Deere AI Tractor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355848" y="2724912"/>
            <a:ext cx="2542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AI-guided tractor planted and monitored 500 acres with minimal manual work. Sensor data reduced fertiliser use by 28%.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355848" y="4160520"/>
            <a:ext cx="2542032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355848" y="4187952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Saved $18,000 in input costs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172200" y="1143000"/>
            <a:ext cx="2743200" cy="3749040"/>
          </a:xfrm>
          <a:prstGeom prst="rect">
            <a:avLst/>
          </a:prstGeom>
          <a:solidFill>
            <a:srgbClr val="6D2E4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72200" y="1143000"/>
            <a:ext cx="27432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261872"/>
            <a:ext cx="640080" cy="6400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81928" y="193852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Winegrower, Bordeaux, France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629400" y="2414016"/>
            <a:ext cx="1828800" cy="219456"/>
          </a:xfrm>
          <a:prstGeom prst="rect">
            <a:avLst/>
          </a:prstGeom>
          <a:solidFill>
            <a:srgbClr val="F4A261">
              <a:alpha val="6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281928" y="242316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Vineview Satellite Analytics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6281928" y="2724912"/>
            <a:ext cx="2542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AI detected early signs of powdery mildew in select vine rows. Only those rows were treated — not the entire vineyard.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6281928" y="4160520"/>
            <a:ext cx="2542032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281928" y="4187952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40% less fungicide used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BUT… IT'S NOT ALL PERFECT.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challenges we must address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1600200"/>
          </a:xfrm>
          <a:prstGeom prst="rect">
            <a:avLst/>
          </a:prstGeom>
          <a:solidFill>
            <a:srgbClr val="2A2A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2743200" cy="45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4173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38988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Divide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9768" y="187452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small farmers lack smartphones, internet, or electricity. AI reaches the connected — but what about the rest?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1188720"/>
            <a:ext cx="2743200" cy="1600200"/>
          </a:xfrm>
          <a:prstGeom prst="rect">
            <a:avLst/>
          </a:prstGeom>
          <a:solidFill>
            <a:srgbClr val="2A2A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1188720"/>
            <a:ext cx="2743200" cy="45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4173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138988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Initial Cost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47288" y="187452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Drones, sensors, and software require upfront investment. For subsistence farmers, this is out of reach without subsidies.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355080" y="1188720"/>
            <a:ext cx="2743200" cy="1600200"/>
          </a:xfrm>
          <a:prstGeom prst="rect">
            <a:avLst/>
          </a:prstGeom>
          <a:solidFill>
            <a:srgbClr val="2A2A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55080" y="1188720"/>
            <a:ext cx="2743200" cy="45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14173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0" y="138988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Privacy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64808" y="187452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farm data collected by AI companies? Farmers may unknowingly share sensitive yield and location data.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20040" y="2926080"/>
            <a:ext cx="2743200" cy="1600200"/>
          </a:xfrm>
          <a:prstGeom prst="rect">
            <a:avLst/>
          </a:prstGeom>
          <a:solidFill>
            <a:srgbClr val="2A2A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2926080"/>
            <a:ext cx="2743200" cy="45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15468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31272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&amp; Adoption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29768" y="361188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experienced farmers distrust algorithms over their own decades of intuition. Building trust takes time and proof.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337560" y="2926080"/>
            <a:ext cx="2743200" cy="1600200"/>
          </a:xfrm>
          <a:prstGeom prst="rect">
            <a:avLst/>
          </a:prstGeom>
          <a:solidFill>
            <a:srgbClr val="2A2A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337560" y="2926080"/>
            <a:ext cx="2743200" cy="45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7288" y="315468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31920" y="31272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&amp; Literacy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447288" y="361188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require some technical skill. Without proper training and local language support, adoption remains low.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355080" y="2926080"/>
            <a:ext cx="2743200" cy="1600200"/>
          </a:xfrm>
          <a:prstGeom prst="rect">
            <a:avLst/>
          </a:prstGeom>
          <a:solidFill>
            <a:srgbClr val="2A2A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55080" y="2926080"/>
            <a:ext cx="2743200" cy="45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4808" y="3154680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31272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&amp; Support Gap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464808" y="361188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Governments are slow to create AI-specific agricultural policies. Farmers need subsidies and legal frameworks to adopt safely.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Recognising problems is the first step to solving them. These are solvable — with the right will.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FARM OF 2030 AND BEYOND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tomorrow's farm look like?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1645920"/>
          </a:xfrm>
          <a:prstGeom prst="rect">
            <a:avLst/>
          </a:prstGeom>
          <a:solidFill>
            <a:srgbClr val="E8EDE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68580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" y="12710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30759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9768" y="1691640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apps on every farmer's phone. Crop disease diagnosis in seconds.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46120" y="1234440"/>
            <a:ext cx="2743200" cy="1645920"/>
          </a:xfrm>
          <a:prstGeom prst="rect">
            <a:avLst/>
          </a:prstGeom>
          <a:solidFill>
            <a:srgbClr val="E8EDE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234440"/>
            <a:ext cx="68580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82696" y="12710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1307592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55848" y="1691640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 AI tractors. No driver needed for planting or harvesting.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72200" y="1234440"/>
            <a:ext cx="2743200" cy="1645920"/>
          </a:xfrm>
          <a:prstGeom prst="rect">
            <a:avLst/>
          </a:prstGeom>
          <a:solidFill>
            <a:srgbClr val="E8EDE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72200" y="1234440"/>
            <a:ext cx="68580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08776" y="12710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1307592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81928" y="1691640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 models predicting hyper-local rainfall 14 days ahead with 90%+ accuracy.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320040" y="3108960"/>
            <a:ext cx="2743200" cy="1645920"/>
          </a:xfrm>
          <a:prstGeom prst="rect">
            <a:avLst/>
          </a:prstGeom>
          <a:solidFill>
            <a:srgbClr val="E8EDE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3108960"/>
            <a:ext cx="68580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56616" y="31455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0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3182112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29768" y="3566160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AI-designed crop varieties engineered for climate resilience and maximum nutrition.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3246120" y="3108960"/>
            <a:ext cx="2743200" cy="1645920"/>
          </a:xfrm>
          <a:prstGeom prst="rect">
            <a:avLst/>
          </a:prstGeom>
          <a:solidFill>
            <a:srgbClr val="E8EDE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46120" y="3108960"/>
            <a:ext cx="68580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3282696" y="31455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0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80" y="3182112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355848" y="3566160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AI farms in cities, producing food year-round with 95% less water.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172200" y="3108960"/>
            <a:ext cx="2743200" cy="1645920"/>
          </a:xfrm>
          <a:prstGeom prst="rect">
            <a:avLst/>
          </a:prstGeom>
          <a:solidFill>
            <a:srgbClr val="E8EDE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72200" y="3108960"/>
            <a:ext cx="68580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6208776" y="31455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</a:t>
            </a:r>
            <a:endParaRPr lang="en-US" sz="10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0" y="3182112"/>
            <a:ext cx="411480" cy="4114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281928" y="3566160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managing entire food systems — from seed to shelf — with zero waste.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D6A4F">
              <a:alpha val="25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52B788">
              <a:alpha val="20000"/>
            </a:srgbClr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200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 YOUR TURN!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9385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think together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14400" y="2423160"/>
            <a:ext cx="7315200" cy="658368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423160"/>
            <a:ext cx="64008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2487168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How many of you have eaten food grown with AI technology today?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3227832"/>
            <a:ext cx="7315200" cy="658368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3227832"/>
            <a:ext cx="64008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3291840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If you were a farmer, which AI tool would you use first and why?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14400" y="4032504"/>
            <a:ext cx="7315200" cy="658368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14400" y="4032504"/>
            <a:ext cx="64008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4096512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What do you think is the BIGGEST barrier to AI in farming?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time: 3 minutes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200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REMEMBER RAVI?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39319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farmer from our opening story.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used an AI app.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crop was saved.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children went to school that year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harvest paid for it.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what AI in agriculture really means.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about robots replacing farmers.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about giving every farmer — no matter where they live — the same power that only big agribusinesses had before.</a:t>
            </a:r>
            <a:endParaRPr lang="en-US" sz="1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54864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0" y="23317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HARVEST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INNOVATION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663440" y="3273552"/>
            <a:ext cx="146304" cy="14630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2040" y="32186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diagnoses disease instantly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3621024"/>
            <a:ext cx="146304" cy="14630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92040" y="3566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optimise water &amp; nutrients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63440" y="3968496"/>
            <a:ext cx="146304" cy="14630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39136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 map every inch of fields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663440" y="4315968"/>
            <a:ext cx="146304" cy="14630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92040" y="42611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protect harvests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663440" y="4663440"/>
            <a:ext cx="146304" cy="14630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92040" y="46085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farmer empowered equally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0" y="480974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future of food is intelligent."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4114800" cy="411480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52B788">
              <a:alpha val="25000"/>
            </a:srgbClr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743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kern="0" spc="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24231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farming is intelligent, inclusive &amp; sustainable.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286000" y="2971800"/>
            <a:ext cx="45720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with passion for a smarter, greener world  🌾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CB8A8C-AA27-5E21-867C-F9B1DE70C2AF}"/>
              </a:ext>
            </a:extLst>
          </p:cNvPr>
          <p:cNvSpPr txBox="1"/>
          <p:nvPr/>
        </p:nvSpPr>
        <p:spPr>
          <a:xfrm>
            <a:off x="3281289" y="3218523"/>
            <a:ext cx="27115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Presented By</a:t>
            </a:r>
          </a:p>
          <a:p>
            <a:pPr algn="ctr"/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 Pradeep Kumar</a:t>
            </a:r>
          </a:p>
          <a:p>
            <a:pPr algn="ctr"/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Emp Id: 2494592</a:t>
            </a:r>
            <a:endParaRPr lang="en-IN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1357</Words>
  <Application>Microsoft Office PowerPoint</Application>
  <PresentationFormat>On-screen Show (16:9)</PresentationFormat>
  <Paragraphs>223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Agriculture and Farming</dc:title>
  <dc:subject>PptxGenJS Presentation</dc:subject>
  <dc:creator>AI Agriculture Presentation</dc:creator>
  <cp:lastModifiedBy>Galla Durga Rama Satya Pradeep Kumar</cp:lastModifiedBy>
  <cp:revision>2</cp:revision>
  <dcterms:created xsi:type="dcterms:W3CDTF">2026-05-18T17:20:00Z</dcterms:created>
  <dcterms:modified xsi:type="dcterms:W3CDTF">2026-05-18T17:47:50Z</dcterms:modified>
</cp:coreProperties>
</file>