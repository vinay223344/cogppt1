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</c:v>
                </c:pt>
              </c:strCache>
            </c:strRef>
          </c:tx>
          <c:spPr>
            <a:ln w="381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58</c:v>
                </c:pt>
                <c:pt idx="2">
                  <c:v>65</c:v>
                </c:pt>
                <c:pt idx="3">
                  <c:v>60</c:v>
                </c:pt>
                <c:pt idx="4">
                  <c:v>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53D-4E55-8FF6-B5DBB1DAA6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AI</c:v>
                </c:pt>
              </c:strCache>
            </c:strRef>
          </c:tx>
          <c:spPr>
            <a:ln w="38100" cap="flat">
              <a:solidFill>
                <a:srgbClr val="52B7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2B788"/>
              </a:solidFill>
              <a:ln w="9525" cap="flat">
                <a:solidFill>
                  <a:srgbClr val="52B78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72</c:v>
                </c:pt>
                <c:pt idx="1">
                  <c:v>80</c:v>
                </c:pt>
                <c:pt idx="2">
                  <c:v>85</c:v>
                </c:pt>
                <c:pt idx="3">
                  <c:v>88</c:v>
                </c:pt>
                <c:pt idx="4">
                  <c:v>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53D-4E55-8FF6-B5DBB1DAA6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5D5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6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5D5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C3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3C3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032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2D6A4F">
              <a:alpha val="45000"/>
            </a:srgbClr>
          </a:solidFill>
          <a:ln w="12700">
            <a:solidFill>
              <a:srgbClr val="2D6A4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71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FOOD BEGINS HERE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 </a:t>
            </a:r>
            <a:r>
              <a:rPr lang="en-US" sz="58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AGRICULTURE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FARMING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is Feeding the World — and Why It Matters to Every One of Us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4663440"/>
            <a:ext cx="22860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EC6432-9957-9F2E-D803-763988B25D1F}"/>
              </a:ext>
            </a:extLst>
          </p:cNvPr>
          <p:cNvSpPr txBox="1"/>
          <p:nvPr/>
        </p:nvSpPr>
        <p:spPr>
          <a:xfrm>
            <a:off x="7684149" y="4287333"/>
            <a:ext cx="21073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Presented By</a:t>
            </a:r>
          </a:p>
          <a:p>
            <a:r>
              <a:rPr lang="en-US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 Pradeep Kumar</a:t>
            </a:r>
          </a:p>
          <a:p>
            <a:r>
              <a:rPr lang="en-US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Emp Id: 2494592</a:t>
            </a:r>
            <a:endParaRPr lang="en-IN" sz="1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A3C34">
              <a:alpha val="90000"/>
            </a:srgbClr>
          </a:solidFill>
          <a:ln w="12700">
            <a:solidFill>
              <a:srgbClr val="1A3C34">
                <a:alpha val="90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RAVI.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in Tamil Nadu. 3 acres of land.</a:t>
            </a:r>
            <a:endParaRPr lang="en-US" sz="16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family's entire livelihood</a:t>
            </a:r>
            <a:endParaRPr lang="en-US" sz="16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this season's harvest.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37760" y="9144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he could predict </a:t>
            </a:r>
            <a:r>
              <a:rPr lang="en-US" sz="2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before it hits?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937760" y="22860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crop disease </a:t>
            </a: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early?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937760" y="3291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his yield with </a:t>
            </a:r>
            <a:r>
              <a:rPr lang="en-US" sz="2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water?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937760" y="4297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science fiction. That's AI.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SCALE OF THE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feeds 8 billion people. But the system is under enormous stress.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417320"/>
            <a:ext cx="1965960" cy="182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9164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4231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76F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11480" y="329184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food lost to pests,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&amp; waste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468880" y="141732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68880" y="1417320"/>
            <a:ext cx="1965960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69164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68880" y="24231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4200" dirty="0"/>
          </a:p>
        </p:txBody>
      </p:sp>
      <p:sp>
        <p:nvSpPr>
          <p:cNvPr id="13" name="Text 9"/>
          <p:cNvSpPr/>
          <p:nvPr/>
        </p:nvSpPr>
        <p:spPr>
          <a:xfrm>
            <a:off x="2560320" y="329184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fresh water used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agriculture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17720" y="141732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17720" y="1417320"/>
            <a:ext cx="1965960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69164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17720" y="24231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2B+</a:t>
            </a:r>
            <a:endParaRPr lang="en-US" sz="4200" dirty="0"/>
          </a:p>
        </p:txBody>
      </p:sp>
      <p:sp>
        <p:nvSpPr>
          <p:cNvPr id="18" name="Text 13"/>
          <p:cNvSpPr/>
          <p:nvPr/>
        </p:nvSpPr>
        <p:spPr>
          <a:xfrm>
            <a:off x="4709160" y="329184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face food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insecurity globally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66560" y="141732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66560" y="1417320"/>
            <a:ext cx="196596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691640"/>
            <a:ext cx="685800" cy="6858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0" y="24231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14°C</a:t>
            </a:r>
            <a:endParaRPr lang="en-US" sz="4200" dirty="0"/>
          </a:p>
        </p:txBody>
      </p:sp>
      <p:sp>
        <p:nvSpPr>
          <p:cNvPr id="23" name="Text 17"/>
          <p:cNvSpPr/>
          <p:nvPr/>
        </p:nvSpPr>
        <p:spPr>
          <a:xfrm>
            <a:off x="6858000" y="329184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temp rise threatening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yields by 2050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AI ACTUALLY DO ON A FARM?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giving farmers a superpower — to see, predict, and act faster than ever.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468880" cy="3474720"/>
          </a:xfrm>
          <a:prstGeom prst="rect">
            <a:avLst/>
          </a:prstGeom>
          <a:solidFill>
            <a:srgbClr val="2D6A4F">
              <a:alpha val="80000"/>
            </a:srgbClr>
          </a:solidFill>
          <a:ln w="19050">
            <a:solidFill>
              <a:srgbClr val="52B78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087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176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26517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sensors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images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feeds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footage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468880" cy="3474720"/>
          </a:xfrm>
          <a:prstGeom prst="rect">
            <a:avLst/>
          </a:prstGeom>
          <a:solidFill>
            <a:srgbClr val="2D6A4F">
              <a:alpha val="80000"/>
            </a:srgbClr>
          </a:solidFill>
          <a:ln w="1905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5087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2176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BRAIN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74720" y="26517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09360" y="1371600"/>
            <a:ext cx="2468880" cy="3474720"/>
          </a:xfrm>
          <a:prstGeom prst="rect">
            <a:avLst/>
          </a:prstGeom>
          <a:solidFill>
            <a:srgbClr val="2D6A4F">
              <a:alpha val="80000"/>
            </a:srgbClr>
          </a:solidFill>
          <a:ln w="19050">
            <a:solidFill>
              <a:srgbClr val="E76F51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5087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21762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OUT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46520" y="26517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irrigation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alerts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harvest time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predictions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" y="2788920"/>
            <a:ext cx="365760" cy="365760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27889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0924" y="91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Crop Disease Detection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Computer Vision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0924" y="183337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used to wait until damage was visible to the naked eye.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then, 30% of the crop was already lost.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157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or phone scans leaf surface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2644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identifies disease from 50,000 patterns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8130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sent to farmer's phone within seconds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361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treatment applied — only where needed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457200"/>
            <a:ext cx="3200400" cy="42976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94360"/>
            <a:ext cx="1188720" cy="11887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760720" y="18105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Impact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669280" y="24277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178040" y="238658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623560" y="3121188"/>
            <a:ext cx="173735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weeks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178040" y="312154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warning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naked eye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760720" y="38130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7178040" y="3794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pesticide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760720" y="4307037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Plantix app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1M+ farmers in India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Precision Irrigation — Water Every Drop Wisely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2D6A4F">
              <a:alpha val="70000"/>
            </a:srgbClr>
          </a:solidFill>
          <a:ln w="12700">
            <a:solidFill>
              <a:srgbClr val="2D6A4F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898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"Traditional irrigation wastes up to 50% of water. AI changes that equation dramatically."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06040" cy="2743200"/>
          </a:xfrm>
          <a:prstGeom prst="rect">
            <a:avLst/>
          </a:prstGeom>
          <a:solidFill>
            <a:srgbClr val="1A3C34"/>
          </a:solidFill>
          <a:ln w="12700">
            <a:solidFill>
              <a:srgbClr val="52B78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28600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Soil Sensors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5204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moisture, pH, and nutrients in real-time across every zone of the farm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73552" y="2148840"/>
            <a:ext cx="2606040" cy="2743200"/>
          </a:xfrm>
          <a:prstGeom prst="rect">
            <a:avLst/>
          </a:prstGeom>
          <a:solidFill>
            <a:srgbClr val="1A3C34"/>
          </a:solidFill>
          <a:ln w="12700">
            <a:solidFill>
              <a:srgbClr val="F4A261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228600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3552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AI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10712" y="35204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rainfall, wind, and humidity 7–14 days out with 90%+ accuracy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9904" y="2148840"/>
            <a:ext cx="2606040" cy="2743200"/>
          </a:xfrm>
          <a:prstGeom prst="rect">
            <a:avLst/>
          </a:prstGeom>
          <a:solidFill>
            <a:srgbClr val="1A3C34"/>
          </a:solidFill>
          <a:ln w="12700">
            <a:solidFill>
              <a:srgbClr val="E76F51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4" y="228600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89904" y="3017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Drip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227064" y="35204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valves open only when needed, delivering exactly the right water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Up to 30–50% water savings with AI irrigation systems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Eyes in the Sky —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Drones &amp; Satellite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drone can survey 400 acres in under an hour. A farmer would take days walking the same land.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every image to create detailed field health maps.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535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stressed crops invisible to the eye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4564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42900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analysis to measure plant health across acres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959352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9319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pest hotspots before they spread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462272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443484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crop growth weekly, predict yield months ahead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548640"/>
            <a:ext cx="2743200" cy="27432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577840" y="3429000"/>
            <a:ext cx="3383280" cy="15544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>
            <a:off x="5669280" y="349300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🚁  John Deere's drone system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1 million acres in 2023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improved yields by 15%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the Harvest — Before It Happens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2588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938528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0760" y="19019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5+ years of farm history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532888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80760" y="24963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with real-time weather &amp; market data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127248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80760" y="30906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harvest quantity 90 days in advance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721608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80760" y="3685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negotiates better prices BEFORE harvest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315968"/>
            <a:ext cx="292608" cy="29260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080760" y="4223925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can plan food supply proactively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5669280" y="4681728"/>
            <a:ext cx="320040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5669280" y="4681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&amp; Microsoft Azure FarmBeats — real products, deployed today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6858000" y="45720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TURN.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960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Scenario — What Would You Do?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8229600" cy="1051560"/>
          </a:xfrm>
          <a:prstGeom prst="rect">
            <a:avLst/>
          </a:prstGeom>
          <a:solidFill>
            <a:srgbClr val="1A3C34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572768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farmer. Your AI app warns you that your rice crop has a 78% chance of brown planthopper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in the next 10 days. But pesticide costs ₹15,000. Your neighbor doesn't trust the AI.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spray? Do you wait? Do you share the alert with your neighbor?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the person next to you — 60 seconds. Then we'll share.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3246120"/>
            <a:ext cx="4023360" cy="502920"/>
          </a:xfrm>
          <a:prstGeom prst="rect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Spray immediately — trust the AI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3246120"/>
            <a:ext cx="4023360" cy="502920"/>
          </a:xfrm>
          <a:prstGeom prst="rect">
            <a:avLst/>
          </a:prstGeom>
          <a:solidFill>
            <a:srgbClr val="F4A261">
              <a:alpha val="3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Wait and watch for 5 days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3886200"/>
            <a:ext cx="4023360" cy="502920"/>
          </a:xfrm>
          <a:prstGeom prst="rect">
            <a:avLst/>
          </a:prstGeom>
          <a:solidFill>
            <a:srgbClr val="E76F51">
              <a:alpha val="30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886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Share alert and decide together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3886200"/>
            <a:ext cx="4023360" cy="502920"/>
          </a:xfrm>
          <a:prstGeom prst="rect">
            <a:avLst/>
          </a:prstGeom>
          <a:solidFill>
            <a:srgbClr val="4A5568">
              <a:alpha val="30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3886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Ignore — AI isn't always right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 FARMING — AROUND THE WORLD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a lab experiment. It's already happening.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201168" cy="1737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17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🇮🇳 India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2648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x ICRISAT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" y="20848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advisory sent via SMS to farmers. Recommended optimal sowing dates → 30% yield increase in Telangana.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80160"/>
            <a:ext cx="201168" cy="1737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417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🇺🇸 USA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01768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Deere See &amp; Spray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01768" y="20848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identifies weeds vs crops. Reduces herbicide use by 90%. Saves $100M+ annually.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00400"/>
            <a:ext cx="201168" cy="1737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337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🇳🇱 Netherlands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2648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 Greenhouse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" y="400507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controls climate, water and nutrients in greenhouses. Produces 10x more food per m² than traditional farms.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320040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200400"/>
            <a:ext cx="201168" cy="1737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3337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🇰🇪 Kenya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01768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Tractor 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1768" y="400507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 smallholder farmers with nearby tractors. Reduced ploughing cost by 50% for 500,000 families.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6F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 WAIT — IT'S NOT ALL PERFECT.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barriers. Real questions. We must face them honestly.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417320"/>
            <a:ext cx="2606040" cy="1691640"/>
          </a:xfrm>
          <a:prstGeom prst="rect">
            <a:avLst/>
          </a:prstGeom>
          <a:solidFill>
            <a:srgbClr val="1A3C34">
              <a:alpha val="70000"/>
            </a:srgbClr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3272" y="1581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Connectivity Gap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2064" y="2167128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farms often lack internet.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needs data to work.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82112" y="1417320"/>
            <a:ext cx="2606040" cy="1691640"/>
          </a:xfrm>
          <a:prstGeom prst="rect">
            <a:avLst/>
          </a:prstGeom>
          <a:solidFill>
            <a:srgbClr val="1A3C34">
              <a:alpha val="70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6002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67912" y="1581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Privacy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46704" y="2167128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farmer's crop data?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 or the farmer?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16752" y="1417320"/>
            <a:ext cx="2606040" cy="1691640"/>
          </a:xfrm>
          <a:prstGeom prst="rect">
            <a:avLst/>
          </a:prstGeom>
          <a:solidFill>
            <a:srgbClr val="1A3C34">
              <a:alpha val="70000"/>
            </a:srgbClr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600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02552" y="1581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Literacy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81344" y="2167128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farmers may distrust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struggle with tech.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47472" y="3291840"/>
            <a:ext cx="2606040" cy="1691640"/>
          </a:xfrm>
          <a:prstGeom prst="rect">
            <a:avLst/>
          </a:prstGeom>
          <a:solidFill>
            <a:srgbClr val="1A3C34">
              <a:alpha val="70000"/>
            </a:srgbClr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4747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33272" y="3456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5D5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 Barrier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12064" y="4041648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can be expensive for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182112" y="3291840"/>
            <a:ext cx="2606040" cy="1691640"/>
          </a:xfrm>
          <a:prstGeom prst="rect">
            <a:avLst/>
          </a:prstGeom>
          <a:solidFill>
            <a:srgbClr val="1A3C34">
              <a:alpha val="70000"/>
            </a:srgbClr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34747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67912" y="3456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Bias in AI Models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346704" y="4041648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US crops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fail in tropical regions.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016752" y="3291840"/>
            <a:ext cx="2606040" cy="1691640"/>
          </a:xfrm>
          <a:prstGeom prst="rect">
            <a:avLst/>
          </a:prstGeom>
          <a:solidFill>
            <a:srgbClr val="1A3C34">
              <a:alpha val="70000"/>
            </a:srgbClr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34747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02552" y="3456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Touch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181344" y="4041648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farming wisdom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shouldn't be lost to algorithms.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371600"/>
            <a:ext cx="7315200" cy="7315200"/>
          </a:xfrm>
          <a:prstGeom prst="ellipse">
            <a:avLst/>
          </a:prstGeom>
          <a:solidFill>
            <a:srgbClr val="2D6A4F">
              <a:alpha val="22000"/>
            </a:srgbClr>
          </a:solidFill>
          <a:ln w="12700">
            <a:solidFill>
              <a:srgbClr val="2D6A4F">
                <a:alpha val="2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FARM OF 2040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stepping onto a farm where every decision is AI-assisted, every resource is optimised, every harvest is predicted.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3200400"/>
          </a:xfrm>
          <a:prstGeom prst="rect">
            <a:avLst/>
          </a:prstGeom>
          <a:solidFill>
            <a:srgbClr val="1E2322">
              <a:alpha val="70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265176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24028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258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 apps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803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28986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sensors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52044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" y="35387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crop surveys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16052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1248" y="4178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 models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246120" y="1691640"/>
            <a:ext cx="2651760" cy="3200400"/>
          </a:xfrm>
          <a:prstGeom prst="rect">
            <a:avLst/>
          </a:prstGeom>
          <a:solidFill>
            <a:srgbClr val="1E2322">
              <a:alpha val="7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246120" y="1691640"/>
            <a:ext cx="265176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24612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2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24028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721608" y="2258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tractors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880360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21608" y="28986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soil microbiome maps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3520440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721608" y="35387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farm-to-fork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416052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21608" y="4178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harvesting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6126480" y="1691640"/>
            <a:ext cx="2651760" cy="3200400"/>
          </a:xfrm>
          <a:prstGeom prst="rect">
            <a:avLst/>
          </a:prstGeom>
          <a:solidFill>
            <a:srgbClr val="1E2322">
              <a:alpha val="70000"/>
            </a:srgbClr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6126480" y="1691640"/>
            <a:ext cx="265176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612648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2040</a:t>
            </a:r>
            <a:endParaRPr lang="en-US" sz="22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240280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601968" y="2258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Self-managing smart farms</a:t>
            </a:r>
            <a:endParaRPr lang="en-US" sz="12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880360"/>
            <a:ext cx="256032" cy="25603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601968" y="28986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plant genetics design</a:t>
            </a:r>
            <a:endParaRPr lang="en-US" sz="12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3520440"/>
            <a:ext cx="256032" cy="256032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601968" y="35387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Zero-waste food systems</a:t>
            </a:r>
            <a:endParaRPr lang="en-US" sz="12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4160520"/>
            <a:ext cx="256032" cy="256032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601968" y="4178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10B people</a:t>
            </a:r>
            <a:endParaRPr lang="en-US" sz="1200" dirty="0"/>
          </a:p>
        </p:txBody>
      </p:sp>
      <p:sp>
        <p:nvSpPr>
          <p:cNvPr id="39" name="Text 24"/>
          <p:cNvSpPr/>
          <p:nvPr/>
        </p:nvSpPr>
        <p:spPr>
          <a:xfrm>
            <a:off x="2310278" y="4656582"/>
            <a:ext cx="4377212" cy="461772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revolution isn't coming. It's already here.</a:t>
            </a:r>
            <a:endParaRPr lang="en-US" sz="16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4947" y="4730248"/>
            <a:ext cx="323584" cy="3235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CAN YOU DO?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agriculture isn't just for tech companies or governments. It involves all of 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416052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6420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Students &amp; Researchers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21488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models trained on local crop data. Bridge the rural data gap.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90872" y="1417320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0872" y="1417320"/>
            <a:ext cx="416052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66420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Farmers &amp; Agri-workers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73752" y="21488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AI tool — a disease detection app or soil sensor. See the difference.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47472" y="3200400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47472" y="3200400"/>
            <a:ext cx="4160520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44728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24712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Policy Makers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30352" y="39319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rural internet access. Subsidise AI tools for smallholders.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690872" y="3200400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90872" y="3200400"/>
            <a:ext cx="4160520" cy="1097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447288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68112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Consumers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873752" y="393192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AI-grown products. Ask where your food comes from. Demand sustainable farming.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828800"/>
            <a:ext cx="8229600" cy="8229600"/>
          </a:xfrm>
          <a:prstGeom prst="ellipse">
            <a:avLst/>
          </a:prstGeom>
          <a:solidFill>
            <a:srgbClr val="1A3C34">
              <a:alpha val="40000"/>
            </a:srgbClr>
          </a:solidFill>
          <a:ln w="12700">
            <a:solidFill>
              <a:srgbClr val="1A3C34">
                <a:alpha val="40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743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GRAIN OF RICE.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Drop of Water. Every Farm. Every Future.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— our farmer from the beginning — doesn't need to guess anymore.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AI, he sees what's coming, acts before it's too late, and feeds his family and yours.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0" y="3858768"/>
            <a:ext cx="27432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00507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time to plant a tree was 20 years ago. The best time to adopt AI farming is NOW."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1130</Words>
  <Application>Microsoft Office PowerPoint</Application>
  <PresentationFormat>On-screen Show (16:9)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Agriculture &amp; Farming</dc:title>
  <dc:subject>PptxGenJS Presentation</dc:subject>
  <dc:creator>Smart Farming Presentation</dc:creator>
  <cp:lastModifiedBy>Galla Durga Rama Satya Pradeep Kumar</cp:lastModifiedBy>
  <cp:revision>2</cp:revision>
  <dcterms:created xsi:type="dcterms:W3CDTF">2026-05-18T17:05:42Z</dcterms:created>
  <dcterms:modified xsi:type="dcterms:W3CDTF">2026-05-18T17:39:41Z</dcterms:modified>
</cp:coreProperties>
</file>